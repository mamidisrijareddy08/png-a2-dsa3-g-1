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Literata SemiBold" panose="020B0604020202020204" charset="0"/>
      <p:regular r:id="rId13"/>
    </p:embeddedFont>
    <p:embeddedFont>
      <p:font typeface="Noto Sans" panose="020B0502040204020203" pitchFamily="34" charset="0"/>
      <p:regular r:id="rId14"/>
    </p:embeddedFont>
    <p:embeddedFont>
      <p:font typeface="Noto Sans Bold" panose="020B0604020202020204" charset="0"/>
      <p:regular r:id="rId15"/>
    </p:embeddedFont>
    <p:embeddedFont>
      <p:font typeface="Noto Sans Medium" panose="020B0604020202020204" charset="0"/>
      <p:regular r:id="rId16"/>
    </p:embeddedFont>
    <p:embeddedFont>
      <p:font typeface="Noto Sans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8367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project in one sentence: this system connects search, order selection, sequencing, and shortest-path routing into one food delivery decision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review is organized around five questions: does it work accurately, does it show technical competence, is it innovative and sustainable, is it useful, and is the presentation ready?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pipeline left to right. The system starts with a user request, narrows the available choices, orders the selected work, calculates routes, and returns one connected delivery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separation of concerns. Each layer has a defined input and output, making the system easier to test module by module before checking the complete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algorithm earns its place through a distinct responsibility: matching, searching, exploring, optimizing, or routing. Together they form a system rather than a collection of unrelated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what is verified and what still needs to be added. Search is checked against known matches and non-matches, randomized behavior across repeated runs, optimization against small hand-verified cases, and routing against expected shortest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technical story is strongest at the handoff points. The project does not stop at implementing algorithms separately; it connects their outputs and keeps the chain explainable from request to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sustainability as a design direction, not an unsupported result. The system creates a basis for reducing unnecessary travel and planning multiple orders deliberately. Actual distance, time, or resource comparisons still need to be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project to a real use case without overclaiming deployment impact. It can make search and delivery planning more systematic, but operational data must validate the results before the system is used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making the five-part case visible: accuracy, technical competence, innovation and sustainability, utility, and presentation quality. Name the limits honestly,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484" y="3050183"/>
            <a:ext cx="683877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FINAL REVIEW · DSA-3 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4484" y="3422848"/>
            <a:ext cx="6229194" cy="1215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600" kern="100" spc="-55" dirty="0">
                <a:solidFill>
                  <a:srgbClr val="FFFFFF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Smart Food Delivery Route Optimization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94484" y="4876006"/>
            <a:ext cx="622919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algorithm design to dependable delivery decisions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62000"/>
            <a:ext cx="112773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FINAL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1981" y="1134666"/>
            <a:ext cx="1015974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100" spc="-48" dirty="0">
                <a:solidFill>
                  <a:srgbClr val="0E0E0E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From algorithm design to dependable delivery decisions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662992"/>
            <a:ext cx="482588" cy="482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5863" y="2663031"/>
            <a:ext cx="4457588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Subject:</a:t>
            </a: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DSA-3 Implementation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3305532"/>
            <a:ext cx="482588" cy="482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5863" y="3305572"/>
            <a:ext cx="4457588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Academic Year:</a:t>
            </a: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2026</a:t>
            </a:r>
            <a:endParaRPr lang="en-US" sz="1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3948073"/>
            <a:ext cx="482588" cy="482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85863" y="3948112"/>
            <a:ext cx="4457588" cy="135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Final-review lens:</a:t>
            </a: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accuracy, technical competence, innovation and sustainability, utility to society, presentation quality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2662992"/>
            <a:ext cx="482588" cy="482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72126" y="2663031"/>
            <a:ext cx="4457588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Team:</a:t>
            </a: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Srija Reddy, Navyasri, Sindhuja, Pyata Anirudh, Sai Kiran</a:t>
            </a:r>
            <a:endParaRPr lang="en-US" sz="1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244" y="3643273"/>
            <a:ext cx="482588" cy="482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972126" y="3643313"/>
            <a:ext cx="4457588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Supervisor:</a:t>
            </a: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Malgireddy Saidireddy</a:t>
            </a:r>
            <a:endParaRPr lang="en-US" sz="1900" dirty="0"/>
          </a:p>
        </p:txBody>
      </p:sp>
      <p:sp>
        <p:nvSpPr>
          <p:cNvPr id="14" name="Shape 7"/>
          <p:cNvSpPr/>
          <p:nvPr/>
        </p:nvSpPr>
        <p:spPr>
          <a:xfrm>
            <a:off x="761981" y="3146822"/>
            <a:ext cx="5181470" cy="12700"/>
          </a:xfrm>
          <a:prstGeom prst="rect">
            <a:avLst/>
          </a:prstGeom>
          <a:solidFill>
            <a:srgbClr val="C4C3BB"/>
          </a:solidFill>
          <a:ln/>
        </p:spPr>
      </p:sp>
      <p:sp>
        <p:nvSpPr>
          <p:cNvPr id="15" name="Shape 8"/>
          <p:cNvSpPr/>
          <p:nvPr/>
        </p:nvSpPr>
        <p:spPr>
          <a:xfrm>
            <a:off x="761981" y="3789362"/>
            <a:ext cx="5181470" cy="12700"/>
          </a:xfrm>
          <a:prstGeom prst="rect">
            <a:avLst/>
          </a:prstGeom>
          <a:solidFill>
            <a:srgbClr val="C4C3BB"/>
          </a:solidFill>
          <a:ln/>
        </p:spPr>
      </p:sp>
      <p:sp>
        <p:nvSpPr>
          <p:cNvPr id="16" name="Shape 9"/>
          <p:cNvSpPr/>
          <p:nvPr/>
        </p:nvSpPr>
        <p:spPr>
          <a:xfrm>
            <a:off x="6248244" y="3484563"/>
            <a:ext cx="5181470" cy="12700"/>
          </a:xfrm>
          <a:prstGeom prst="rect">
            <a:avLst/>
          </a:prstGeom>
          <a:solidFill>
            <a:srgbClr val="C4C3B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62000"/>
            <a:ext cx="112773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01 · THE PIPELINE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1981" y="1134666"/>
            <a:ext cx="1015974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100" spc="-48" dirty="0">
                <a:solidFill>
                  <a:srgbClr val="0E0E0E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One integrated pipeline connects search, selection, sequencing, and routing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61981" y="2510631"/>
            <a:ext cx="74769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00" dirty="0">
                <a:solidFill>
                  <a:srgbClr val="2B4A6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1981" y="2850356"/>
            <a:ext cx="332731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 restaurants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1981" y="3352006"/>
            <a:ext cx="3555911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KMP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46486" y="2510631"/>
            <a:ext cx="74769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00" dirty="0">
                <a:solidFill>
                  <a:srgbClr val="2B4A6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46486" y="2850356"/>
            <a:ext cx="30987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 menu items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46486" y="3352006"/>
            <a:ext cx="3327317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Rabin-Karp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02397" y="2510631"/>
            <a:ext cx="74769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00" dirty="0">
                <a:solidFill>
                  <a:srgbClr val="2B4A6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102397" y="2850356"/>
            <a:ext cx="332731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candidate orders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02397" y="3352006"/>
            <a:ext cx="3327317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Randomized algorithm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1981" y="4146947"/>
            <a:ext cx="74769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00" dirty="0">
                <a:solidFill>
                  <a:srgbClr val="2B4A6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61981" y="4486672"/>
            <a:ext cx="332731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 sequence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1981" y="4988322"/>
            <a:ext cx="3555911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Dynamic Programming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46486" y="4146947"/>
            <a:ext cx="74769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00" dirty="0">
                <a:solidFill>
                  <a:srgbClr val="2B4A6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5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46486" y="4486672"/>
            <a:ext cx="30987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Calculate routes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46486" y="4988322"/>
            <a:ext cx="3327317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Dijkstra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102397" y="4146947"/>
            <a:ext cx="747694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00" dirty="0">
                <a:solidFill>
                  <a:srgbClr val="2B4A6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6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102397" y="4486672"/>
            <a:ext cx="332731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Return delivery plan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02397" y="4988322"/>
            <a:ext cx="3327317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End-to-end output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311542" y="2510631"/>
            <a:ext cx="12700" cy="1407716"/>
          </a:xfrm>
          <a:prstGeom prst="rect">
            <a:avLst/>
          </a:prstGeom>
          <a:solidFill>
            <a:srgbClr val="C4C3BB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7453" y="2510631"/>
            <a:ext cx="12700" cy="1407716"/>
          </a:xfrm>
          <a:prstGeom prst="rect">
            <a:avLst/>
          </a:prstGeom>
          <a:solidFill>
            <a:srgbClr val="C4C3BB"/>
          </a:solidFill>
          <a:ln/>
        </p:spPr>
      </p:sp>
      <p:sp>
        <p:nvSpPr>
          <p:cNvPr id="24" name="Shape 22"/>
          <p:cNvSpPr/>
          <p:nvPr/>
        </p:nvSpPr>
        <p:spPr>
          <a:xfrm>
            <a:off x="761981" y="3911997"/>
            <a:ext cx="3555911" cy="12700"/>
          </a:xfrm>
          <a:prstGeom prst="rect">
            <a:avLst/>
          </a:prstGeom>
          <a:solidFill>
            <a:srgbClr val="C4C3BB"/>
          </a:solidFill>
          <a:ln/>
        </p:spPr>
      </p:sp>
      <p:sp>
        <p:nvSpPr>
          <p:cNvPr id="25" name="Shape 23"/>
          <p:cNvSpPr/>
          <p:nvPr/>
        </p:nvSpPr>
        <p:spPr>
          <a:xfrm>
            <a:off x="4311542" y="3918347"/>
            <a:ext cx="12700" cy="1407716"/>
          </a:xfrm>
          <a:prstGeom prst="rect">
            <a:avLst/>
          </a:prstGeom>
          <a:solidFill>
            <a:srgbClr val="C4C3BB"/>
          </a:solidFill>
          <a:ln/>
        </p:spPr>
      </p:sp>
      <p:sp>
        <p:nvSpPr>
          <p:cNvPr id="26" name="Shape 24"/>
          <p:cNvSpPr/>
          <p:nvPr/>
        </p:nvSpPr>
        <p:spPr>
          <a:xfrm>
            <a:off x="4317892" y="3911997"/>
            <a:ext cx="3555911" cy="12700"/>
          </a:xfrm>
          <a:prstGeom prst="rect">
            <a:avLst/>
          </a:prstGeom>
          <a:solidFill>
            <a:srgbClr val="C4C3BB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7453" y="3918347"/>
            <a:ext cx="12700" cy="1407716"/>
          </a:xfrm>
          <a:prstGeom prst="rect">
            <a:avLst/>
          </a:prstGeom>
          <a:solidFill>
            <a:srgbClr val="C4C3BB"/>
          </a:solidFill>
          <a:ln/>
        </p:spPr>
      </p:sp>
      <p:sp>
        <p:nvSpPr>
          <p:cNvPr id="28" name="Shape 26"/>
          <p:cNvSpPr/>
          <p:nvPr/>
        </p:nvSpPr>
        <p:spPr>
          <a:xfrm>
            <a:off x="7873803" y="3911997"/>
            <a:ext cx="3555911" cy="12700"/>
          </a:xfrm>
          <a:prstGeom prst="rect">
            <a:avLst/>
          </a:prstGeom>
          <a:solidFill>
            <a:srgbClr val="C4C3B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75196"/>
            <a:ext cx="112773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02 ·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1981" y="1147862"/>
            <a:ext cx="1015974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100" spc="-48" dirty="0">
                <a:solidFill>
                  <a:srgbClr val="0E0E0E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The architecture separates decisions so each algorithm can be tested clearly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463502"/>
            <a:ext cx="6434473" cy="36194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62000"/>
            <a:ext cx="112773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03 · ALGORITHM RESPONSIBILITY 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1981" y="1134666"/>
            <a:ext cx="1015974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100" spc="-48" dirty="0">
                <a:solidFill>
                  <a:srgbClr val="0E0E0E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Each algorithm has a defined role in the final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1981" y="2488406"/>
            <a:ext cx="1889772" cy="38100"/>
          </a:xfrm>
          <a:prstGeom prst="rect">
            <a:avLst/>
          </a:prstGeom>
          <a:solidFill>
            <a:srgbClr val="2B4A6F"/>
          </a:solidFill>
          <a:ln/>
        </p:spPr>
      </p:sp>
      <p:sp>
        <p:nvSpPr>
          <p:cNvPr id="5" name="Text 3"/>
          <p:cNvSpPr/>
          <p:nvPr/>
        </p:nvSpPr>
        <p:spPr>
          <a:xfrm>
            <a:off x="990575" y="2755106"/>
            <a:ext cx="166117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KMP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0575" y="3127772"/>
            <a:ext cx="143258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90575" y="3695402"/>
            <a:ext cx="1432584" cy="135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Restaurant-name pattern matching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90575" y="5186065"/>
            <a:ext cx="1432584" cy="1371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Input: restaurant text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Output: matching names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56446" y="2488406"/>
            <a:ext cx="1889772" cy="38100"/>
          </a:xfrm>
          <a:prstGeom prst="rect">
            <a:avLst/>
          </a:prstGeom>
          <a:solidFill>
            <a:srgbClr val="2B4A6F"/>
          </a:solidFill>
          <a:ln/>
        </p:spPr>
      </p:sp>
      <p:sp>
        <p:nvSpPr>
          <p:cNvPr id="10" name="Text 8"/>
          <p:cNvSpPr/>
          <p:nvPr/>
        </p:nvSpPr>
        <p:spPr>
          <a:xfrm>
            <a:off x="3185041" y="2755106"/>
            <a:ext cx="166117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RABIN-KARP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85041" y="3127772"/>
            <a:ext cx="143258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85041" y="3695402"/>
            <a:ext cx="1432584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Hash-based menu-item matching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185041" y="4848324"/>
            <a:ext cx="1432584" cy="1371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Input: menu text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Output: matching items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50912" y="2488406"/>
            <a:ext cx="1889871" cy="38100"/>
          </a:xfrm>
          <a:prstGeom prst="rect">
            <a:avLst/>
          </a:prstGeom>
          <a:solidFill>
            <a:srgbClr val="2B4A6F"/>
          </a:solidFill>
          <a:ln/>
        </p:spPr>
      </p:sp>
      <p:sp>
        <p:nvSpPr>
          <p:cNvPr id="15" name="Text 13"/>
          <p:cNvSpPr/>
          <p:nvPr/>
        </p:nvSpPr>
        <p:spPr>
          <a:xfrm>
            <a:off x="5379506" y="2755106"/>
            <a:ext cx="166127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RANDOMIZED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79506" y="3127772"/>
            <a:ext cx="143268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79506" y="3695402"/>
            <a:ext cx="1432683" cy="135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Explores candidate order choices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379506" y="5186065"/>
            <a:ext cx="1432683" cy="1371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Input: candidate orders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Output: selected set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45476" y="2488406"/>
            <a:ext cx="1889772" cy="38100"/>
          </a:xfrm>
          <a:prstGeom prst="rect">
            <a:avLst/>
          </a:prstGeom>
          <a:solidFill>
            <a:srgbClr val="2B4A6F"/>
          </a:solidFill>
          <a:ln/>
        </p:spPr>
      </p:sp>
      <p:sp>
        <p:nvSpPr>
          <p:cNvPr id="20" name="Text 18"/>
          <p:cNvSpPr/>
          <p:nvPr/>
        </p:nvSpPr>
        <p:spPr>
          <a:xfrm>
            <a:off x="7574071" y="2755106"/>
            <a:ext cx="1432584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DYNAMIC PROGRAMMING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74071" y="3676253"/>
            <a:ext cx="143258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Sequence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574071" y="4243884"/>
            <a:ext cx="1432584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Reuses subproblem solutions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74071" y="5396805"/>
            <a:ext cx="1432584" cy="1371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Input: selected orders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Output: optimized sequence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39942" y="2488406"/>
            <a:ext cx="1889772" cy="38100"/>
          </a:xfrm>
          <a:prstGeom prst="rect">
            <a:avLst/>
          </a:prstGeom>
          <a:solidFill>
            <a:srgbClr val="2B4A6F"/>
          </a:solidFill>
          <a:ln/>
        </p:spPr>
      </p:sp>
      <p:sp>
        <p:nvSpPr>
          <p:cNvPr id="25" name="Text 23"/>
          <p:cNvSpPr/>
          <p:nvPr/>
        </p:nvSpPr>
        <p:spPr>
          <a:xfrm>
            <a:off x="9768536" y="2755106"/>
            <a:ext cx="166117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DIJKSTRA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68536" y="3127772"/>
            <a:ext cx="143258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Route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768536" y="3695402"/>
            <a:ext cx="1432584" cy="135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Finds shortest paths on the graph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768536" y="5186065"/>
            <a:ext cx="1432584" cy="1371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Input: locations and edges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Output: delivery route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62000"/>
            <a:ext cx="112773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04 · EVIDENCE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1981" y="1134666"/>
            <a:ext cx="10667733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0E0E0E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Accuracy is demonstrated through traceable validation, not unsupported claims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981" y="2283023"/>
          <a:ext cx="10667733" cy="3034034"/>
        </p:xfrm>
        <a:graphic>
          <a:graphicData uri="http://schemas.openxmlformats.org/drawingml/2006/table">
            <a:tbl>
              <a:tblPr/>
              <a:tblGrid>
                <a:gridCol w="7040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E0E0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Module · validation check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E0E0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Observed result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KMP · Known matching and non-matching pattern cases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[ADD ACTUAL RESULT]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Rabin-Karp · Menu search cases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[ADD ACTUAL RESULT]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Randomized selection · Repeated-run behavior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[ADD ACTUAL RESULT]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Dynamic Programming · Manually verified small-case optimality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[ADD ACTUAL RESULT]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0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Dijkstra · Expected shortest-route verification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[ADD ACTUAL RESULT]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1981" y="5533033"/>
            <a:ext cx="609584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 the final evidence table with [ADD ACTUAL TEST CASES], [ADD PASS/FAIL COUNTS], and [ADD ACTUAL RESULT].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62000"/>
            <a:ext cx="6603835" cy="796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800" kern="100" spc="-34" dirty="0">
                <a:solidFill>
                  <a:srgbClr val="0E0E0E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Technical competence comes from integration, not isolated algorithms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1796653"/>
            <a:ext cx="482588" cy="4826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002" y="1796653"/>
            <a:ext cx="482588" cy="482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1981" y="2418953"/>
            <a:ext cx="6603835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Transforms a user request into a connected chain of algorithmic decisions, combining string matching, randomized search, optimization, and graph theory.</a:t>
            </a:r>
            <a:endParaRPr lang="en-US" sz="19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3584575"/>
            <a:ext cx="482588" cy="4826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9002" y="3584575"/>
            <a:ext cx="482588" cy="4826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61981" y="4206875"/>
            <a:ext cx="6603835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Keeps modules explainable: inputs, decisions, and outputs are traceable; supports module-level and end-to-end pipeline testing.</a:t>
            </a:r>
            <a:endParaRPr lang="en-US" sz="1900" dirty="0"/>
          </a:p>
        </p:txBody>
      </p:sp>
      <p:sp>
        <p:nvSpPr>
          <p:cNvPr id="9" name="Text 3"/>
          <p:cNvSpPr/>
          <p:nvPr/>
        </p:nvSpPr>
        <p:spPr>
          <a:xfrm>
            <a:off x="761981" y="5435997"/>
            <a:ext cx="6603835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 to add: [INSERT FINAL SCREENSHOT OR CODE WALKTHROUGH]</a:t>
            </a:r>
            <a:endParaRPr lang="en-US" sz="16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62000"/>
            <a:ext cx="112773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06 · SUSTAINABILITY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1981" y="1134666"/>
            <a:ext cx="1015974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100" spc="-48" dirty="0">
                <a:solidFill>
                  <a:srgbClr val="0E0E0E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The final system connects optimization with sustainable delivery choices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510631"/>
            <a:ext cx="5181470" cy="1809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1981" y="4460081"/>
            <a:ext cx="5181470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5757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Sustainability evidence: [ADD ACTUAL DISTANCE, TIME, OR RESOURCE COMPARISON IF AVAILABLE]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48244" y="2510631"/>
            <a:ext cx="5181470" cy="3517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050"/>
              </a:spcAft>
              <a:buNone/>
            </a:pPr>
            <a:r>
              <a:rPr lang="en-US" sz="19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Distance and sequence:</a:t>
            </a: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Shortest-path routing can reduce unnecessary travel when the graph reflects real road choices. Sequence optimization supports more deliberate multi-order planning.</a:t>
            </a:r>
            <a:endParaRPr lang="en-US" sz="19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Flexibility and extensibility:</a:t>
            </a: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Randomized selection explores alternative order combinations. Modular design makes future additions easier without replacing the full pipeline.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62000"/>
            <a:ext cx="761980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07 · UTILITY TO SOCIETY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1981" y="1134666"/>
            <a:ext cx="7010225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100" spc="-48" dirty="0">
                <a:solidFill>
                  <a:srgbClr val="0E0E0E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Make food delivery more dependable and efficient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510631"/>
            <a:ext cx="482588" cy="482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1981" y="3132931"/>
            <a:ext cx="335271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 faster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61981" y="3573759"/>
            <a:ext cx="3352716" cy="802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Helps users find restaurants and menu items quickly.</a:t>
            </a:r>
            <a:endParaRPr lang="en-US" sz="1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489" y="2510631"/>
            <a:ext cx="482588" cy="482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19489" y="3132931"/>
            <a:ext cx="335271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 better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4419489" y="3573759"/>
            <a:ext cx="3352716" cy="114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Supports decisions that account for order sequence and route distance.</a:t>
            </a:r>
            <a:endParaRPr lang="en-US" sz="1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4487962"/>
            <a:ext cx="482588" cy="3059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1981" y="4905872"/>
            <a:ext cx="3352716" cy="607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Coordinate systematically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761981" y="5558333"/>
            <a:ext cx="3352716" cy="205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help delivery operations coordinate multiple orders more systematically.</a:t>
            </a:r>
            <a:endParaRPr lang="en-US" sz="1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489" y="4780460"/>
            <a:ext cx="482588" cy="4190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419489" y="5139234"/>
            <a:ext cx="3352716" cy="584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E0E0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toward practice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4419642" y="5558333"/>
            <a:ext cx="335271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Creates a foundation for practical applications in urban food logistics.</a:t>
            </a:r>
            <a:endParaRPr lang="en-US" sz="1900" dirty="0"/>
          </a:p>
        </p:txBody>
      </p:sp>
      <p:sp>
        <p:nvSpPr>
          <p:cNvPr id="16" name="Shape 10"/>
          <p:cNvSpPr/>
          <p:nvPr/>
        </p:nvSpPr>
        <p:spPr>
          <a:xfrm>
            <a:off x="761981" y="7833816"/>
            <a:ext cx="7010225" cy="1278731"/>
          </a:xfrm>
          <a:prstGeom prst="roundRect">
            <a:avLst>
              <a:gd name="adj" fmla="val 894"/>
            </a:avLst>
          </a:prstGeom>
          <a:solidFill>
            <a:srgbClr val="FCF2B5"/>
          </a:solidFill>
          <a:ln/>
        </p:spPr>
      </p:sp>
      <p:sp>
        <p:nvSpPr>
          <p:cNvPr id="17" name="Text 11"/>
          <p:cNvSpPr/>
          <p:nvPr/>
        </p:nvSpPr>
        <p:spPr>
          <a:xfrm>
            <a:off x="1003275" y="8135441"/>
            <a:ext cx="6527637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Responsible use:</a:t>
            </a:r>
            <a:r>
              <a:rPr lang="en-US" sz="1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validate results with real operational data before deployment.</a:t>
            </a:r>
            <a:endParaRPr lang="en-US" sz="1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187" y="0"/>
            <a:ext cx="3657509" cy="98745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62000"/>
            <a:ext cx="112773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32" dirty="0">
                <a:solidFill>
                  <a:srgbClr val="5757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FINAL REVIEW · READINESS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1981" y="1134667"/>
            <a:ext cx="10159746" cy="59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100" spc="-48" dirty="0">
                <a:solidFill>
                  <a:srgbClr val="0E0E0E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Final readiness is a five-part case for the project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866241"/>
              </p:ext>
            </p:extLst>
          </p:nvPr>
        </p:nvGraphicFramePr>
        <p:xfrm>
          <a:off x="761981" y="1564106"/>
          <a:ext cx="10667734" cy="5133475"/>
        </p:xfrm>
        <a:graphic>
          <a:graphicData uri="http://schemas.openxmlformats.org/drawingml/2006/table">
            <a:tbl>
              <a:tblPr/>
              <a:tblGrid>
                <a:gridCol w="320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95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E0E0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Rubric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E0E0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What the project demonstrates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E0E0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Evidence to present</a:t>
                      </a:r>
                      <a:endParaRPr lang="en-US" sz="19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4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Accuracy of Results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Traceable module and pipeline validation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[ADD ACTUAL VALIDATION RESULTS]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4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Technical Competence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Five algorithms integrated into one workflow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Architecture and algorithm responsibility map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4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Innovative and Sustainable Features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Optimization-oriented route and sequence decisions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[ADD ACTUAL SUSTAINABILITY EVIDENCE]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4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Utility to Society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More systematic search and delivery planning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Use-case flow and responsible-use note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2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Presentation Skills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Clear story, diagrams, evidence, and limitations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Live walkthrough and concise conclusion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1981" y="7645003"/>
            <a:ext cx="5181470" cy="1931491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6" name="Text 3"/>
          <p:cNvSpPr/>
          <p:nvPr/>
        </p:nvSpPr>
        <p:spPr>
          <a:xfrm>
            <a:off x="990575" y="7873603"/>
            <a:ext cx="472428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90575" y="8441234"/>
            <a:ext cx="4724282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traffic, live order updates, richer delivery constraints, and deployment-scale testing.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48244" y="7645003"/>
            <a:ext cx="5181470" cy="1931491"/>
          </a:xfrm>
          <a:prstGeom prst="rect">
            <a:avLst/>
          </a:prstGeom>
          <a:solidFill>
            <a:srgbClr val="2B4A6F"/>
          </a:solidFill>
          <a:ln/>
        </p:spPr>
      </p:sp>
      <p:sp>
        <p:nvSpPr>
          <p:cNvPr id="9" name="Text 6"/>
          <p:cNvSpPr/>
          <p:nvPr/>
        </p:nvSpPr>
        <p:spPr>
          <a:xfrm>
            <a:off x="6476838" y="7873603"/>
            <a:ext cx="472428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 YOU / QUESTIONS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76838" y="8441234"/>
            <a:ext cx="472428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problem to pipeline, evidence, impact, and next steps.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1018</Words>
  <Application>Microsoft Office PowerPoint</Application>
  <PresentationFormat>Widescreen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Noto Sans Bold</vt:lpstr>
      <vt:lpstr>Noto Sans SemiBold</vt:lpstr>
      <vt:lpstr>Arial</vt:lpstr>
      <vt:lpstr>Noto Sans Medium</vt:lpstr>
      <vt:lpstr>Literata SemiBold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KOLATAM SINDHUJA</dc:creator>
  <cp:lastModifiedBy>Mamidi Srija reddy</cp:lastModifiedBy>
  <cp:revision>4</cp:revision>
  <dcterms:created xsi:type="dcterms:W3CDTF">2026-10-06T15:44:01Z</dcterms:created>
  <dcterms:modified xsi:type="dcterms:W3CDTF">2026-10-07T06:22:52Z</dcterms:modified>
</cp:coreProperties>
</file>